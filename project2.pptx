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35F2-D900-85FE-444E-54CEEA0F87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A56207-FC16-7161-16ED-7DE6A38C8F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7A28DD-2C5E-F7E7-6F9E-1B4B8AE45B0D}"/>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0107D6C3-E63D-EFE3-218E-4E8A6BA8D5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6392DA-7AEA-76A3-959F-8B5CCB919F30}"/>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4228062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66DD-03E4-4449-D84B-369E8738B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44CEE8-26C9-E35E-636C-F33F338F6D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0A9E17-7256-3550-5E46-BA77371DDB7A}"/>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58AC8DDF-EF81-5DF6-8F73-D1D31C8A3D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EBFC0E-2038-F07D-9D87-AA268A2B57F8}"/>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1287459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4821F-7300-2DF9-7230-AD2AB1B90C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100D0D-B078-5F73-5598-621FFF76A7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258D79-0B97-495D-200C-44A09F348D5B}"/>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24699B49-E457-EB93-E323-A8B0EECF4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CE4A94-E018-BE5D-1839-B91E6CC38BFA}"/>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1475786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E7F0-90A4-89C0-455C-0941F94188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DFB05F-AF17-9550-29C9-A5D72DCE57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8F3B59-9857-A99C-A9DD-83E95A31FD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0D9DEB-7F80-D200-4C86-85992E7FCE47}"/>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6" name="Footer Placeholder 5">
            <a:extLst>
              <a:ext uri="{FF2B5EF4-FFF2-40B4-BE49-F238E27FC236}">
                <a16:creationId xmlns:a16="http://schemas.microsoft.com/office/drawing/2014/main" id="{DA428D8A-1752-BCD3-CEF3-CB11438520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F52EEB-FE0D-59B0-767E-D0CF1660A5D0}"/>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334295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F89D-9E84-9A4F-8347-1FBC2DA944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CA3655-AF63-EB52-2D7E-E9E79F90D1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A21B96-73DE-F17E-260A-08668DB649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32EB19-FCFA-BB51-C18E-08F4CE3B60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026C2F-0620-411B-B681-C0E0742AAF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7583EA-C70D-F031-CBE7-2F9E91735CDA}"/>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8" name="Footer Placeholder 7">
            <a:extLst>
              <a:ext uri="{FF2B5EF4-FFF2-40B4-BE49-F238E27FC236}">
                <a16:creationId xmlns:a16="http://schemas.microsoft.com/office/drawing/2014/main" id="{AFE9F3D1-22B0-9D67-1A36-4D495FDB47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8773FA-E239-90EF-06E9-DF3BA901B39A}"/>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1492111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43A2-DA09-86F0-F21F-A1BF400930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91A21F-79C3-52BF-EF31-9E8896ECB20F}"/>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4" name="Footer Placeholder 3">
            <a:extLst>
              <a:ext uri="{FF2B5EF4-FFF2-40B4-BE49-F238E27FC236}">
                <a16:creationId xmlns:a16="http://schemas.microsoft.com/office/drawing/2014/main" id="{09DAA786-005A-FACF-A6E7-C129F96826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677D85-A9AF-4D46-A266-770A974286BE}"/>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490730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011E72-72EC-8F7D-E92C-EDDBD9B50495}"/>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3" name="Footer Placeholder 2">
            <a:extLst>
              <a:ext uri="{FF2B5EF4-FFF2-40B4-BE49-F238E27FC236}">
                <a16:creationId xmlns:a16="http://schemas.microsoft.com/office/drawing/2014/main" id="{88AC2CF1-90C1-BC5E-2ADE-B22A36FC96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5CC5F7-595D-B71E-B778-6D687C228036}"/>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427326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4628-8579-2217-D272-0AD86F0C2E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F7E9FC-6DB7-C370-834B-5B4692E729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34D0ED-89CB-F504-B8F3-4D114D2032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8C91C0-6BB4-9C72-3FC5-0DC2A8B94913}"/>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6" name="Footer Placeholder 5">
            <a:extLst>
              <a:ext uri="{FF2B5EF4-FFF2-40B4-BE49-F238E27FC236}">
                <a16:creationId xmlns:a16="http://schemas.microsoft.com/office/drawing/2014/main" id="{5DB693D7-9FEE-C0E5-DCEE-ADFCC91967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332DBE-7C68-91A3-0F0C-A78F2285CFD0}"/>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2740493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17DA-C2B6-BB1D-535B-D72466E8F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6A202E9-65BB-A7BA-CCCB-9665E8ECAA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0C0AD1-E715-9E35-98E0-D43BC124B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990327-C6E2-454C-CE88-3501C76C414C}"/>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6" name="Footer Placeholder 5">
            <a:extLst>
              <a:ext uri="{FF2B5EF4-FFF2-40B4-BE49-F238E27FC236}">
                <a16:creationId xmlns:a16="http://schemas.microsoft.com/office/drawing/2014/main" id="{6F674FE3-FE81-0E6B-6ACC-04BC248DD7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2EB10C-1E72-AF4E-C388-1BFCC3B2F176}"/>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196430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E776-A6C8-DE7A-F0C3-D373D344FF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BA87F7-F638-C3C9-F199-FE87796E5D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124BCB-3073-5C94-5602-2E64EA0C0EC0}"/>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B3CC5BC8-3CF2-A5A2-CF79-ED25FCBBE4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261D3-69A9-3987-9C36-550E45B9CE9E}"/>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3612015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C0C63F-0E3E-577E-0E3F-3D1D254838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73C0AA-32F0-38E9-688C-C70E4C0190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C695F7-917F-ADD7-A071-8BD69344D926}"/>
              </a:ext>
            </a:extLst>
          </p:cNvPr>
          <p:cNvSpPr>
            <a:spLocks noGrp="1"/>
          </p:cNvSpPr>
          <p:nvPr>
            <p:ph type="dt" sz="half" idx="10"/>
          </p:nvPr>
        </p:nvSpPr>
        <p:spPr/>
        <p:txBody>
          <a:body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B77C0AE9-A5F5-2947-D780-C05A848BC3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26E8D8-57BF-01EA-CE48-AA49FC5EE84B}"/>
              </a:ext>
            </a:extLst>
          </p:cNvPr>
          <p:cNvSpPr>
            <a:spLocks noGrp="1"/>
          </p:cNvSpPr>
          <p:nvPr>
            <p:ph type="sldNum" sz="quarter" idx="12"/>
          </p:nvPr>
        </p:nvSpPr>
        <p:spPr/>
        <p:txBody>
          <a:bodyPr/>
          <a:lstStyle/>
          <a:p>
            <a:fld id="{7CB51A51-F259-42F9-AA53-64E7D2428B60}" type="slidenum">
              <a:rPr lang="en-IN" smtClean="0"/>
              <a:t>‹#›</a:t>
            </a:fld>
            <a:endParaRPr lang="en-IN"/>
          </a:p>
        </p:txBody>
      </p:sp>
    </p:spTree>
    <p:extLst>
      <p:ext uri="{BB962C8B-B14F-4D97-AF65-F5344CB8AC3E}">
        <p14:creationId xmlns:p14="http://schemas.microsoft.com/office/powerpoint/2010/main" val="2953543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6F625-B4B7-B6AE-13FE-291E65A07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1781B3-F556-3D5D-A5EA-4A2680414A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4A9862-49FD-CCEE-0F20-49E09A316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3D5364-937F-4E8A-BD7E-0AB50CFE42B9}" type="datetimeFigureOut">
              <a:rPr lang="en-IN" smtClean="0"/>
              <a:t>04-01-2026</a:t>
            </a:fld>
            <a:endParaRPr lang="en-IN"/>
          </a:p>
        </p:txBody>
      </p:sp>
      <p:sp>
        <p:nvSpPr>
          <p:cNvPr id="5" name="Footer Placeholder 4">
            <a:extLst>
              <a:ext uri="{FF2B5EF4-FFF2-40B4-BE49-F238E27FC236}">
                <a16:creationId xmlns:a16="http://schemas.microsoft.com/office/drawing/2014/main" id="{F56198C8-23A7-A9C9-EA0D-D862DDE8FC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E46B9AB-4F25-A0DC-8CB3-00207CE2AC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B51A51-F259-42F9-AA53-64E7D2428B60}" type="slidenum">
              <a:rPr lang="en-IN" smtClean="0"/>
              <a:t>‹#›</a:t>
            </a:fld>
            <a:endParaRPr lang="en-IN"/>
          </a:p>
        </p:txBody>
      </p:sp>
    </p:spTree>
    <p:extLst>
      <p:ext uri="{BB962C8B-B14F-4D97-AF65-F5344CB8AC3E}">
        <p14:creationId xmlns:p14="http://schemas.microsoft.com/office/powerpoint/2010/main" val="409128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61DC5-11B1-C8FF-3714-4116BF00F00C}"/>
              </a:ext>
            </a:extLst>
          </p:cNvPr>
          <p:cNvSpPr>
            <a:spLocks noGrp="1"/>
          </p:cNvSpPr>
          <p:nvPr>
            <p:ph type="title"/>
          </p:nvPr>
        </p:nvSpPr>
        <p:spPr>
          <a:xfrm>
            <a:off x="838200" y="365125"/>
            <a:ext cx="10515600" cy="5809533"/>
          </a:xfrm>
        </p:spPr>
        <p:txBody>
          <a:bodyPr>
            <a:normAutofit/>
          </a:bodyPr>
          <a:lstStyle/>
          <a:p>
            <a:pPr algn="ctr"/>
            <a:r>
              <a:rPr lang="en-US" b="1" dirty="0"/>
              <a:t>CUSTOMER CHURN ANALYSIS FOR TELECOM INDUSTRY</a:t>
            </a:r>
            <a:br>
              <a:rPr lang="en-US" b="1" dirty="0"/>
            </a:br>
            <a:r>
              <a:rPr lang="en-US" b="1" dirty="0"/>
              <a:t>Prepared by: Sifa Kazi</a:t>
            </a:r>
            <a:br>
              <a:rPr lang="en-US" b="1" dirty="0"/>
            </a:br>
            <a:endParaRPr lang="en-IN" b="1" dirty="0"/>
          </a:p>
        </p:txBody>
      </p:sp>
    </p:spTree>
    <p:extLst>
      <p:ext uri="{BB962C8B-B14F-4D97-AF65-F5344CB8AC3E}">
        <p14:creationId xmlns:p14="http://schemas.microsoft.com/office/powerpoint/2010/main" val="1784320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7AD2E-DB26-EDFA-34A0-10C1F8981FB1}"/>
              </a:ext>
            </a:extLst>
          </p:cNvPr>
          <p:cNvSpPr>
            <a:spLocks noGrp="1"/>
          </p:cNvSpPr>
          <p:nvPr>
            <p:ph type="title"/>
          </p:nvPr>
        </p:nvSpPr>
        <p:spPr>
          <a:xfrm>
            <a:off x="216310" y="365125"/>
            <a:ext cx="11818374" cy="6251985"/>
          </a:xfrm>
        </p:spPr>
        <p:txBody>
          <a:bodyPr>
            <a:normAutofit/>
          </a:bodyPr>
          <a:lstStyle/>
          <a:p>
            <a:pPr marL="571500" indent="-571500">
              <a:buFont typeface="Arial" panose="020B0604020202020204" pitchFamily="34" charset="0"/>
              <a:buChar char="•"/>
            </a:pPr>
            <a:r>
              <a:rPr lang="en-US" sz="3600" b="1" dirty="0"/>
              <a:t>Introduction:-</a:t>
            </a:r>
            <a:br>
              <a:rPr lang="en-US" sz="3600" b="1" dirty="0"/>
            </a:br>
            <a:br>
              <a:rPr lang="en-US" sz="3600" dirty="0"/>
            </a:br>
            <a:r>
              <a:rPr lang="en-US" sz="3100" dirty="0"/>
              <a:t>In today’s highly competitive telecom industry, customer retention is a major challenge. Customers often switch service providers due to pricing issues, poor service quality, or lack of personalized offers. Customer churn directly impacts revenue and growth. Therefore, predicting customer churn in advance and identifying its key drivers is crucial for telecom companies to design effective retention strategies. This project focuses on analyzing customer behavior and predicting churn using data-driven techniques.</a:t>
            </a:r>
            <a:br>
              <a:rPr lang="en-US" sz="3100" dirty="0"/>
            </a:br>
            <a:br>
              <a:rPr lang="en-US" sz="3600" dirty="0"/>
            </a:br>
            <a:endParaRPr lang="en-IN" sz="3600" dirty="0"/>
          </a:p>
        </p:txBody>
      </p:sp>
    </p:spTree>
    <p:extLst>
      <p:ext uri="{BB962C8B-B14F-4D97-AF65-F5344CB8AC3E}">
        <p14:creationId xmlns:p14="http://schemas.microsoft.com/office/powerpoint/2010/main" val="4103488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42AE-B7B8-3AE1-9B02-8867B92AA13C}"/>
              </a:ext>
            </a:extLst>
          </p:cNvPr>
          <p:cNvSpPr>
            <a:spLocks noGrp="1"/>
          </p:cNvSpPr>
          <p:nvPr>
            <p:ph type="title"/>
          </p:nvPr>
        </p:nvSpPr>
        <p:spPr>
          <a:xfrm>
            <a:off x="127819" y="278427"/>
            <a:ext cx="11897033" cy="6301146"/>
          </a:xfrm>
        </p:spPr>
        <p:txBody>
          <a:bodyPr>
            <a:normAutofit fontScale="90000"/>
          </a:bodyPr>
          <a:lstStyle/>
          <a:p>
            <a:pPr marL="571500" indent="-571500">
              <a:buFont typeface="Arial" panose="020B0604020202020204" pitchFamily="34" charset="0"/>
              <a:buChar char="•"/>
            </a:pPr>
            <a:r>
              <a:rPr lang="en-US" sz="3600" b="1" dirty="0"/>
              <a:t>Abstract:-</a:t>
            </a:r>
            <a:br>
              <a:rPr lang="en-US" sz="3600" dirty="0"/>
            </a:br>
            <a:br>
              <a:rPr lang="en-US" sz="3600" dirty="0"/>
            </a:br>
            <a:r>
              <a:rPr lang="en-US" sz="3100" dirty="0"/>
              <a:t>This project aims to predict customer churn in the telecom industry using machine learning and data analytics techniques. A telecom customer dataset was analyzed using SQL and Python to understand usage patterns, customer complaints, and service behavior. A Random Forest classification model was built to predict whether a customer is likely to churn. SHAP (</a:t>
            </a:r>
            <a:r>
              <a:rPr lang="en-US" sz="3100" dirty="0" err="1"/>
              <a:t>SHapley</a:t>
            </a:r>
            <a:r>
              <a:rPr lang="en-US" sz="3100" dirty="0"/>
              <a:t> Additive </a:t>
            </a:r>
            <a:r>
              <a:rPr lang="en-US" sz="3100" dirty="0" err="1"/>
              <a:t>exPlanations</a:t>
            </a:r>
            <a:r>
              <a:rPr lang="en-US" sz="3100" dirty="0"/>
              <a:t>) was used to explain the model predictions and identify important churn-driving factors. Additionally, customers were segmented into At Risk, Loyal, and Dormant groups to enable targeted retention strategies. The insights derived from this analysis can help telecom companies reduce churn and improve customer satisfaction.</a:t>
            </a:r>
            <a:br>
              <a:rPr lang="en-US" sz="3100" dirty="0"/>
            </a:br>
            <a:br>
              <a:rPr lang="en-US" sz="3100" dirty="0"/>
            </a:br>
            <a:endParaRPr lang="en-IN" sz="3100" dirty="0"/>
          </a:p>
        </p:txBody>
      </p:sp>
    </p:spTree>
    <p:extLst>
      <p:ext uri="{BB962C8B-B14F-4D97-AF65-F5344CB8AC3E}">
        <p14:creationId xmlns:p14="http://schemas.microsoft.com/office/powerpoint/2010/main" val="2601943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4FD6-12AF-8E6A-ED24-55E73EF8E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BF71F-6518-C128-2EEB-D49C1222C39E}"/>
              </a:ext>
            </a:extLst>
          </p:cNvPr>
          <p:cNvSpPr>
            <a:spLocks noGrp="1"/>
          </p:cNvSpPr>
          <p:nvPr>
            <p:ph type="title"/>
          </p:nvPr>
        </p:nvSpPr>
        <p:spPr>
          <a:xfrm>
            <a:off x="127819" y="278427"/>
            <a:ext cx="11897033" cy="6301146"/>
          </a:xfrm>
        </p:spPr>
        <p:txBody>
          <a:bodyPr>
            <a:normAutofit/>
          </a:bodyPr>
          <a:lstStyle/>
          <a:p>
            <a:pPr marL="571500" indent="-571500">
              <a:buFont typeface="Arial" panose="020B0604020202020204" pitchFamily="34" charset="0"/>
              <a:buChar char="•"/>
            </a:pPr>
            <a:r>
              <a:rPr lang="en-US" sz="3600" b="1" dirty="0"/>
              <a:t>Tools Used:-</a:t>
            </a:r>
            <a:br>
              <a:rPr lang="en-US" sz="3600" b="1" dirty="0"/>
            </a:br>
            <a:br>
              <a:rPr lang="en-US" sz="3600" b="1" dirty="0"/>
            </a:br>
            <a:r>
              <a:rPr lang="en-US" sz="3600" b="1" dirty="0"/>
              <a:t>-</a:t>
            </a:r>
            <a:r>
              <a:rPr lang="en-US" sz="2800" b="1" dirty="0"/>
              <a:t>Python </a:t>
            </a:r>
            <a:r>
              <a:rPr lang="en-US" sz="2800" dirty="0"/>
              <a:t>(Pandas, NumPy, Matplotlib, Seaborn) – Data analysis and visualization</a:t>
            </a:r>
            <a:br>
              <a:rPr lang="en-US" sz="2800" dirty="0"/>
            </a:br>
            <a:r>
              <a:rPr lang="en-US" sz="2800" dirty="0"/>
              <a:t>-</a:t>
            </a:r>
            <a:r>
              <a:rPr lang="en-US" sz="2800" b="1" dirty="0"/>
              <a:t>Scikit-learn </a:t>
            </a:r>
            <a:r>
              <a:rPr lang="en-US" sz="2800" dirty="0"/>
              <a:t>– Machine learning model building and evaluation</a:t>
            </a:r>
            <a:br>
              <a:rPr lang="en-US" sz="2800" dirty="0"/>
            </a:br>
            <a:r>
              <a:rPr lang="en-US" sz="2800" dirty="0"/>
              <a:t>-</a:t>
            </a:r>
            <a:r>
              <a:rPr lang="en-US" sz="2800" b="1" dirty="0"/>
              <a:t>SQLite (SQL) </a:t>
            </a:r>
            <a:r>
              <a:rPr lang="en-US" sz="2800" dirty="0"/>
              <a:t>– Data aggregation and querying</a:t>
            </a:r>
            <a:br>
              <a:rPr lang="en-US" sz="2800" dirty="0"/>
            </a:br>
            <a:r>
              <a:rPr lang="en-US" sz="2800" dirty="0"/>
              <a:t>-</a:t>
            </a:r>
            <a:r>
              <a:rPr lang="en-US" sz="2800" b="1" dirty="0"/>
              <a:t>SHAP </a:t>
            </a:r>
            <a:r>
              <a:rPr lang="en-US" sz="2800" dirty="0"/>
              <a:t>– Model explainability and feature importance analysis</a:t>
            </a:r>
            <a:br>
              <a:rPr lang="en-US" sz="2800" dirty="0"/>
            </a:br>
            <a:r>
              <a:rPr lang="en-US" sz="2800" dirty="0"/>
              <a:t>-</a:t>
            </a:r>
            <a:r>
              <a:rPr lang="en-US" sz="2800" b="1" dirty="0" err="1"/>
              <a:t>Jupyter</a:t>
            </a:r>
            <a:r>
              <a:rPr lang="en-US" sz="2800" b="1" dirty="0"/>
              <a:t> Notebook </a:t>
            </a:r>
            <a:r>
              <a:rPr lang="en-US" sz="2800" dirty="0"/>
              <a:t>– Project implementation environment</a:t>
            </a:r>
            <a:br>
              <a:rPr lang="en-US" sz="3600" b="1" dirty="0"/>
            </a:br>
            <a:endParaRPr lang="en-US" sz="3600" b="1" dirty="0"/>
          </a:p>
        </p:txBody>
      </p:sp>
    </p:spTree>
    <p:extLst>
      <p:ext uri="{BB962C8B-B14F-4D97-AF65-F5344CB8AC3E}">
        <p14:creationId xmlns:p14="http://schemas.microsoft.com/office/powerpoint/2010/main" val="1324813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C8B6C-8709-7144-0908-50B7F8DFB844}"/>
              </a:ext>
            </a:extLst>
          </p:cNvPr>
          <p:cNvSpPr>
            <a:spLocks noGrp="1"/>
          </p:cNvSpPr>
          <p:nvPr>
            <p:ph type="title"/>
          </p:nvPr>
        </p:nvSpPr>
        <p:spPr>
          <a:xfrm>
            <a:off x="206477" y="365125"/>
            <a:ext cx="11857704" cy="6291314"/>
          </a:xfrm>
        </p:spPr>
        <p:txBody>
          <a:bodyPr>
            <a:normAutofit/>
          </a:bodyPr>
          <a:lstStyle/>
          <a:p>
            <a:pPr marL="457200" indent="-457200">
              <a:buFont typeface="Arial" panose="020B0604020202020204" pitchFamily="34" charset="0"/>
              <a:buChar char="•"/>
            </a:pPr>
            <a:r>
              <a:rPr lang="en-US" sz="3200" b="1" dirty="0"/>
              <a:t>Steps Involved in Building the Project:-</a:t>
            </a:r>
            <a:br>
              <a:rPr lang="en-US" sz="2800" dirty="0"/>
            </a:br>
            <a:br>
              <a:rPr lang="en-US" sz="2800" dirty="0"/>
            </a:br>
            <a:r>
              <a:rPr lang="en-US" sz="2800" b="1" dirty="0"/>
              <a:t>1. Dataset Selection &amp; Loading</a:t>
            </a:r>
            <a:r>
              <a:rPr lang="en-US" sz="2800" dirty="0"/>
              <a:t>	</a:t>
            </a:r>
            <a:br>
              <a:rPr lang="en-US" sz="2800" dirty="0"/>
            </a:br>
            <a:r>
              <a:rPr lang="en-US" sz="2800" dirty="0"/>
              <a:t>A telecom customer churn dataset containing customer usage details, service plans, complaints, and churn labels was selected and loaded using Python.</a:t>
            </a:r>
            <a:br>
              <a:rPr lang="en-US" sz="2800" dirty="0"/>
            </a:br>
            <a:r>
              <a:rPr lang="en-US" sz="2800" b="1" dirty="0"/>
              <a:t>2.Data Preprocessing</a:t>
            </a:r>
            <a:br>
              <a:rPr lang="en-US" sz="2800" dirty="0"/>
            </a:br>
            <a:r>
              <a:rPr lang="en-US" sz="2800" dirty="0"/>
              <a:t>   -Converted churn labels into binary format</a:t>
            </a:r>
            <a:br>
              <a:rPr lang="en-US" sz="2800" dirty="0"/>
            </a:br>
            <a:r>
              <a:rPr lang="en-US" sz="2800" dirty="0"/>
              <a:t>   -Encoded categorical variables such as international and voicemail plans</a:t>
            </a:r>
            <a:br>
              <a:rPr lang="en-US" sz="2800" dirty="0"/>
            </a:br>
            <a:r>
              <a:rPr lang="en-US" sz="2800" dirty="0"/>
              <a:t>   -Checked data types and ensured data consistency</a:t>
            </a:r>
            <a:br>
              <a:rPr lang="en-US" sz="2800" dirty="0"/>
            </a:br>
            <a:r>
              <a:rPr lang="en-US" sz="2800" b="1" dirty="0"/>
              <a:t>3.SQL-Based Data Analysis</a:t>
            </a:r>
            <a:br>
              <a:rPr lang="en-US" sz="2800" dirty="0"/>
            </a:br>
            <a:r>
              <a:rPr lang="en-US" sz="2800" dirty="0"/>
              <a:t>   -Stored data in a SQLite database</a:t>
            </a:r>
            <a:br>
              <a:rPr lang="en-US" sz="2800" dirty="0"/>
            </a:br>
            <a:r>
              <a:rPr lang="en-US" sz="2800" dirty="0"/>
              <a:t>   -Analyzed average customer service calls and call usage for churned vs non-churned customers</a:t>
            </a:r>
            <a:br>
              <a:rPr lang="en-US" sz="2800" dirty="0"/>
            </a:br>
            <a:r>
              <a:rPr lang="en-US" sz="2800" dirty="0"/>
              <a:t>   -Derived insights related to complaints and call behavior</a:t>
            </a:r>
            <a:br>
              <a:rPr lang="en-US" sz="2800" dirty="0"/>
            </a:br>
            <a:endParaRPr lang="en-IN" sz="2800" dirty="0"/>
          </a:p>
        </p:txBody>
      </p:sp>
    </p:spTree>
    <p:extLst>
      <p:ext uri="{BB962C8B-B14F-4D97-AF65-F5344CB8AC3E}">
        <p14:creationId xmlns:p14="http://schemas.microsoft.com/office/powerpoint/2010/main" val="133097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E614-4368-160A-F26F-B97DCA15A840}"/>
              </a:ext>
            </a:extLst>
          </p:cNvPr>
          <p:cNvSpPr>
            <a:spLocks noGrp="1"/>
          </p:cNvSpPr>
          <p:nvPr>
            <p:ph type="title"/>
          </p:nvPr>
        </p:nvSpPr>
        <p:spPr>
          <a:xfrm>
            <a:off x="108155" y="365125"/>
            <a:ext cx="11946193" cy="6379804"/>
          </a:xfrm>
        </p:spPr>
        <p:txBody>
          <a:bodyPr>
            <a:normAutofit fontScale="90000"/>
          </a:bodyPr>
          <a:lstStyle/>
          <a:p>
            <a:r>
              <a:rPr lang="en-US" sz="2800" b="1" dirty="0"/>
              <a:t>4.Exploratory Data Analysis (EDA)</a:t>
            </a:r>
            <a:br>
              <a:rPr lang="en-US" sz="2800" b="1" dirty="0"/>
            </a:br>
            <a:r>
              <a:rPr lang="en-US" sz="2800" b="1" dirty="0"/>
              <a:t>   -</a:t>
            </a:r>
            <a:r>
              <a:rPr lang="en-US" sz="2800" dirty="0"/>
              <a:t>Visualized churn distribution using pie and bar charts</a:t>
            </a:r>
            <a:br>
              <a:rPr lang="en-US" sz="2800" dirty="0"/>
            </a:br>
            <a:r>
              <a:rPr lang="en-US" sz="2800" dirty="0"/>
              <a:t>   -Analyzed customer service calls using boxplots</a:t>
            </a:r>
            <a:br>
              <a:rPr lang="en-US" sz="2800" dirty="0"/>
            </a:br>
            <a:r>
              <a:rPr lang="en-US" sz="2800" dirty="0"/>
              <a:t>   -Studied churn trends across customer tenure using line charts</a:t>
            </a:r>
            <a:br>
              <a:rPr lang="en-US" sz="2800" dirty="0"/>
            </a:br>
            <a:r>
              <a:rPr lang="en-US" sz="2800" b="1" dirty="0"/>
              <a:t>5. Machine Learning Model Building</a:t>
            </a:r>
            <a:br>
              <a:rPr lang="en-US" sz="2800" dirty="0"/>
            </a:br>
            <a:r>
              <a:rPr lang="en-US" sz="2800" dirty="0"/>
              <a:t>   -Split data into training and testing sets</a:t>
            </a:r>
            <a:br>
              <a:rPr lang="en-US" sz="2800" dirty="0"/>
            </a:br>
            <a:r>
              <a:rPr lang="en-US" sz="2800" dirty="0"/>
              <a:t>   -Trained a Random Forest Classifier</a:t>
            </a:r>
            <a:br>
              <a:rPr lang="en-US" sz="2800" dirty="0"/>
            </a:br>
            <a:r>
              <a:rPr lang="en-US" sz="2800" dirty="0"/>
              <a:t>   -Evaluated performance using confusion matrix and classification report</a:t>
            </a:r>
            <a:br>
              <a:rPr lang="en-US" sz="2800" dirty="0"/>
            </a:br>
            <a:r>
              <a:rPr lang="en-US" sz="2800" b="1" dirty="0"/>
              <a:t>6. Model Explainability</a:t>
            </a:r>
            <a:br>
              <a:rPr lang="en-US" sz="2800" dirty="0"/>
            </a:br>
            <a:r>
              <a:rPr lang="en-US" sz="2800" dirty="0"/>
              <a:t>   -Used SHAP to identify key features influencing churn</a:t>
            </a:r>
            <a:br>
              <a:rPr lang="en-US" sz="2800" dirty="0"/>
            </a:br>
            <a:r>
              <a:rPr lang="en-US" sz="2800" dirty="0"/>
              <a:t>   -Interpreted how customer service calls, call duration, and service plans affect churn</a:t>
            </a:r>
            <a:br>
              <a:rPr lang="en-US" sz="2800" dirty="0"/>
            </a:br>
            <a:r>
              <a:rPr lang="en-US" sz="2800" b="1" dirty="0"/>
              <a:t>7. Customer Segmentation</a:t>
            </a:r>
            <a:br>
              <a:rPr lang="en-US" sz="2800" b="1" dirty="0"/>
            </a:br>
            <a:r>
              <a:rPr lang="en-US" sz="2800" b="1" dirty="0"/>
              <a:t>   </a:t>
            </a:r>
            <a:r>
              <a:rPr lang="en-US" sz="2800" dirty="0"/>
              <a:t>-Segmented customers into At Risk, Loyal, and Dormant categories based on churn probability and tenure</a:t>
            </a:r>
            <a:br>
              <a:rPr lang="en-US" sz="2800" dirty="0"/>
            </a:br>
            <a:br>
              <a:rPr lang="en-US" sz="2800" dirty="0"/>
            </a:br>
            <a:endParaRPr lang="en-IN" sz="2800" dirty="0"/>
          </a:p>
        </p:txBody>
      </p:sp>
    </p:spTree>
    <p:extLst>
      <p:ext uri="{BB962C8B-B14F-4D97-AF65-F5344CB8AC3E}">
        <p14:creationId xmlns:p14="http://schemas.microsoft.com/office/powerpoint/2010/main" val="1660534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4393-8449-C3D8-6BC9-9046464BE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5D2F7-F35A-3C9F-5CA3-213B3516087D}"/>
              </a:ext>
            </a:extLst>
          </p:cNvPr>
          <p:cNvSpPr>
            <a:spLocks noGrp="1"/>
          </p:cNvSpPr>
          <p:nvPr>
            <p:ph type="title"/>
          </p:nvPr>
        </p:nvSpPr>
        <p:spPr>
          <a:xfrm>
            <a:off x="108155" y="365125"/>
            <a:ext cx="11946193" cy="6379804"/>
          </a:xfrm>
        </p:spPr>
        <p:txBody>
          <a:bodyPr>
            <a:normAutofit/>
          </a:bodyPr>
          <a:lstStyle/>
          <a:p>
            <a:pPr marL="457200" indent="-457200">
              <a:buFont typeface="Arial" panose="020B0604020202020204" pitchFamily="34" charset="0"/>
              <a:buChar char="•"/>
            </a:pPr>
            <a:r>
              <a:rPr lang="en-US" sz="3200" b="1" dirty="0"/>
              <a:t>Final Recommendations:-</a:t>
            </a:r>
            <a:br>
              <a:rPr lang="en-US" sz="2800" dirty="0"/>
            </a:br>
            <a:br>
              <a:rPr lang="en-US" sz="2800" dirty="0"/>
            </a:br>
            <a:r>
              <a:rPr lang="en-US" sz="2800" b="1" dirty="0"/>
              <a:t>1.Target At-Risk Customers: </a:t>
            </a:r>
            <a:r>
              <a:rPr lang="en-US" sz="2800" dirty="0"/>
              <a:t>Offer personalized promotions and retention incentives to reduce the likelihood of churn among high-risk customers.</a:t>
            </a:r>
            <a:br>
              <a:rPr lang="en-US" sz="2800" dirty="0"/>
            </a:br>
            <a:r>
              <a:rPr lang="en-US" sz="2800" b="1" dirty="0"/>
              <a:t>2.Improve Customer Support: </a:t>
            </a:r>
            <a:r>
              <a:rPr lang="en-US" sz="2800" dirty="0"/>
              <a:t>Enhance service quality and response times to address customer complaints promptly, which can significantly decrease churn.</a:t>
            </a:r>
            <a:br>
              <a:rPr lang="en-US" sz="2800" dirty="0"/>
            </a:br>
            <a:r>
              <a:rPr lang="en-US" sz="2800" b="1" dirty="0"/>
              <a:t>3.Engage Dormant Customers: </a:t>
            </a:r>
            <a:r>
              <a:rPr lang="en-US" sz="2800" dirty="0"/>
              <a:t>Implement targeted campaigns, promotions, and usage tips to re-engage customers who show low activity.</a:t>
            </a:r>
            <a:br>
              <a:rPr lang="en-US" sz="2800" dirty="0"/>
            </a:br>
            <a:r>
              <a:rPr lang="en-US" sz="2800" b="1" dirty="0"/>
              <a:t>4.Focus on Short-Tenure Customers: </a:t>
            </a:r>
            <a:r>
              <a:rPr lang="en-US" sz="2800" dirty="0"/>
              <a:t>Provide effective onboarding and support to new customers to ensure they remain satisfied and reduce early churn.</a:t>
            </a:r>
            <a:br>
              <a:rPr lang="en-US" sz="2800" dirty="0"/>
            </a:br>
            <a:r>
              <a:rPr lang="en-US" sz="2800" b="1" dirty="0"/>
              <a:t>5.Leverage Customer Segmentation: </a:t>
            </a:r>
            <a:r>
              <a:rPr lang="en-US" sz="2800" dirty="0"/>
              <a:t>Use the identified segments – At Risk, Loyal, and Dormant – to design tailored marketing and retention strategies for each group.</a:t>
            </a:r>
            <a:endParaRPr lang="en-IN" sz="2800" dirty="0"/>
          </a:p>
        </p:txBody>
      </p:sp>
    </p:spTree>
    <p:extLst>
      <p:ext uri="{BB962C8B-B14F-4D97-AF65-F5344CB8AC3E}">
        <p14:creationId xmlns:p14="http://schemas.microsoft.com/office/powerpoint/2010/main" val="232608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D69A2-887F-4C68-4B44-DB8CA5B81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879E5-F659-521F-0D74-5D01B5C54286}"/>
              </a:ext>
            </a:extLst>
          </p:cNvPr>
          <p:cNvSpPr>
            <a:spLocks noGrp="1"/>
          </p:cNvSpPr>
          <p:nvPr>
            <p:ph type="title"/>
          </p:nvPr>
        </p:nvSpPr>
        <p:spPr>
          <a:xfrm>
            <a:off x="108155" y="365125"/>
            <a:ext cx="11946193" cy="6379804"/>
          </a:xfrm>
        </p:spPr>
        <p:txBody>
          <a:bodyPr>
            <a:normAutofit/>
          </a:bodyPr>
          <a:lstStyle/>
          <a:p>
            <a:pPr marL="457200" indent="-457200">
              <a:buFont typeface="Arial" panose="020B0604020202020204" pitchFamily="34" charset="0"/>
              <a:buChar char="•"/>
            </a:pPr>
            <a:r>
              <a:rPr lang="en-US" sz="3200" b="1" dirty="0"/>
              <a:t>Conclusion:-</a:t>
            </a:r>
            <a:br>
              <a:rPr lang="en-US" sz="3200" b="1" dirty="0"/>
            </a:br>
            <a:br>
              <a:rPr lang="en-US" sz="2800" dirty="0"/>
            </a:br>
            <a:r>
              <a:rPr lang="en-US" sz="2800" dirty="0"/>
              <a:t>The customer churn analysis project successfully predicts churn using machine learning techniques and provides meaningful business insights through explainable AI. The model highlights customer service calls, call usage patterns, and service plans as key churn drivers. Customer segmentation enables targeted retention strategies, helping telecom companies proactively reduce churn. This project demonstrates the effective use of data analytics, SQL, machine learning, and explainability techniques to solve a real-world business problem and can be confidently explained in technical and interview discussions.</a:t>
            </a:r>
            <a:endParaRPr lang="en-IN" sz="2800" dirty="0"/>
          </a:p>
        </p:txBody>
      </p:sp>
    </p:spTree>
    <p:extLst>
      <p:ext uri="{BB962C8B-B14F-4D97-AF65-F5344CB8AC3E}">
        <p14:creationId xmlns:p14="http://schemas.microsoft.com/office/powerpoint/2010/main" val="1337860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762</Words>
  <Application>Microsoft Office PowerPoint</Application>
  <PresentationFormat>Widescreen</PresentationFormat>
  <Paragraphs>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CUSTOMER CHURN ANALYSIS FOR TELECOM INDUSTRY Prepared by: Sifa Kazi </vt:lpstr>
      <vt:lpstr>Introduction:-  In today’s highly competitive telecom industry, customer retention is a major challenge. Customers often switch service providers due to pricing issues, poor service quality, or lack of personalized offers. Customer churn directly impacts revenue and growth. Therefore, predicting customer churn in advance and identifying its key drivers is crucial for telecom companies to design effective retention strategies. This project focuses on analyzing customer behavior and predicting churn using data-driven techniques.  </vt:lpstr>
      <vt:lpstr>Abstract:-  This project aims to predict customer churn in the telecom industry using machine learning and data analytics techniques. A telecom customer dataset was analyzed using SQL and Python to understand usage patterns, customer complaints, and service behavior. A Random Forest classification model was built to predict whether a customer is likely to churn. SHAP (SHapley Additive exPlanations) was used to explain the model predictions and identify important churn-driving factors. Additionally, customers were segmented into At Risk, Loyal, and Dormant groups to enable targeted retention strategies. The insights derived from this analysis can help telecom companies reduce churn and improve customer satisfaction.  </vt:lpstr>
      <vt:lpstr>Tools Used:-  -Python (Pandas, NumPy, Matplotlib, Seaborn) – Data analysis and visualization -Scikit-learn – Machine learning model building and evaluation -SQLite (SQL) – Data aggregation and querying -SHAP – Model explainability and feature importance analysis -Jupyter Notebook – Project implementation environment </vt:lpstr>
      <vt:lpstr>Steps Involved in Building the Project:-  1. Dataset Selection &amp; Loading  A telecom customer churn dataset containing customer usage details, service plans, complaints, and churn labels was selected and loaded using Python. 2.Data Preprocessing    -Converted churn labels into binary format    -Encoded categorical variables such as international and voicemail plans    -Checked data types and ensured data consistency 3.SQL-Based Data Analysis    -Stored data in a SQLite database    -Analyzed average customer service calls and call usage for churned vs non-churned customers    -Derived insights related to complaints and call behavior </vt:lpstr>
      <vt:lpstr>4.Exploratory Data Analysis (EDA)    -Visualized churn distribution using pie and bar charts    -Analyzed customer service calls using boxplots    -Studied churn trends across customer tenure using line charts 5. Machine Learning Model Building    -Split data into training and testing sets    -Trained a Random Forest Classifier    -Evaluated performance using confusion matrix and classification report 6. Model Explainability    -Used SHAP to identify key features influencing churn    -Interpreted how customer service calls, call duration, and service plans affect churn 7. Customer Segmentation    -Segmented customers into At Risk, Loyal, and Dormant categories based on churn probability and tenure  </vt:lpstr>
      <vt:lpstr>Final Recommendations:-  1.Target At-Risk Customers: Offer personalized promotions and retention incentives to reduce the likelihood of churn among high-risk customers. 2.Improve Customer Support: Enhance service quality and response times to address customer complaints promptly, which can significantly decrease churn. 3.Engage Dormant Customers: Implement targeted campaigns, promotions, and usage tips to re-engage customers who show low activity. 4.Focus on Short-Tenure Customers: Provide effective onboarding and support to new customers to ensure they remain satisfied and reduce early churn. 5.Leverage Customer Segmentation: Use the identified segments – At Risk, Loyal, and Dormant – to design tailored marketing and retention strategies for each group.</vt:lpstr>
      <vt:lpstr>Conclusion:-  The customer churn analysis project successfully predicts churn using machine learning techniques and provides meaningful business insights through explainable AI. The model highlights customer service calls, call usage patterns, and service plans as key churn drivers. Customer segmentation enables targeted retention strategies, helping telecom companies proactively reduce churn. This project demonstrates the effective use of data analytics, SQL, machine learning, and explainability techniques to solve a real-world business problem and can be confidently explained in technical and interview discussions.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 Kazi</dc:creator>
  <cp:lastModifiedBy>Amin Kazi</cp:lastModifiedBy>
  <cp:revision>1</cp:revision>
  <dcterms:created xsi:type="dcterms:W3CDTF">2026-01-04T15:24:39Z</dcterms:created>
  <dcterms:modified xsi:type="dcterms:W3CDTF">2026-01-04T15:49:47Z</dcterms:modified>
</cp:coreProperties>
</file>